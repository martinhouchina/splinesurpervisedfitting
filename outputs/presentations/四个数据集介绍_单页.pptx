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5895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01E36"/>
                </a:solidFill>
                <a:latin typeface="Noto Sans CJK SC"/>
              </a:rPr>
              <a:t>四类曲线数据集：从可控真值到真实世界泛化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95097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B697D"/>
                </a:solidFill>
                <a:latin typeface="Noto Sans CJK SC"/>
              </a:rPr>
              <a:t>统一任务：有序二维点序列 → 三次 B 样条拟合与内部节点选择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402336"/>
            <a:ext cx="111556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3918C"/>
                </a:solidFill>
                <a:latin typeface="Noto Sans CJK SC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25296"/>
            <a:ext cx="553212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00584" cy="2304288"/>
          </a:xfrm>
          <a:prstGeom prst="roundRect">
            <a:avLst/>
          </a:prstGeom>
          <a:solidFill>
            <a:srgbClr val="13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9888"/>
            <a:ext cx="29718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01E36"/>
                </a:solidFill>
                <a:latin typeface="Noto Sans CJK SC"/>
              </a:rPr>
              <a:t>Synthetic B-spline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91456" y="1408176"/>
            <a:ext cx="987552" cy="292608"/>
          </a:xfrm>
          <a:prstGeom prst="roundRect">
            <a:avLst/>
          </a:prstGeom>
          <a:solidFill>
            <a:srgbClr val="13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91456" y="1408176"/>
            <a:ext cx="98755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SC"/>
              </a:rPr>
              <a:t>有标签</a:t>
            </a:r>
          </a:p>
        </p:txBody>
      </p:sp>
      <p:pic>
        <p:nvPicPr>
          <p:cNvPr id="10" name="Picture 9" descr="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883664"/>
            <a:ext cx="2148840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18688" y="1920240"/>
            <a:ext cx="2606040" cy="13350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在线生成；源内部节点 K = 4–56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提供真参数、真节点与最简性证书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用于监督训练及节点位置/数量评估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225296"/>
            <a:ext cx="553212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08192" y="1225296"/>
            <a:ext cx="100584" cy="2304288"/>
          </a:xfrm>
          <a:prstGeom prst="roundRect">
            <a:avLst/>
          </a:prstGeom>
          <a:solidFill>
            <a:srgbClr val="306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389888"/>
            <a:ext cx="29718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01E36"/>
                </a:solidFill>
                <a:latin typeface="Noto Sans CJK SC"/>
              </a:rPr>
              <a:t>UJI Pen Characters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1408176"/>
            <a:ext cx="987552" cy="292608"/>
          </a:xfrm>
          <a:prstGeom prst="roundRect">
            <a:avLst/>
          </a:prstGeom>
          <a:solidFill>
            <a:srgbClr val="306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408176"/>
            <a:ext cx="98755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SC"/>
              </a:rPr>
              <a:t>真实轨迹</a:t>
            </a:r>
          </a:p>
        </p:txBody>
      </p:sp>
      <p:pic>
        <p:nvPicPr>
          <p:cNvPr id="17" name="Picture 16" descr="u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883664"/>
            <a:ext cx="2148840" cy="1325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59952" y="1920240"/>
            <a:ext cx="2606040" cy="13350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60 位书写者，11,640 个字符样本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包含噪声、尖锐转向与个体书写差异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按书写者隔离，检验跨主体泛化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553212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3657600"/>
            <a:ext cx="100584" cy="2304288"/>
          </a:xfrm>
          <a:prstGeom prst="roundRect">
            <a:avLst/>
          </a:prstGeom>
          <a:solidFill>
            <a:srgbClr val="E1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822191"/>
            <a:ext cx="29718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01E36"/>
                </a:solidFill>
                <a:latin typeface="Noto Sans CJK SC"/>
              </a:rPr>
              <a:t>Natural Earth 10m Coastline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1456" y="3840480"/>
            <a:ext cx="987552" cy="292608"/>
          </a:xfrm>
          <a:prstGeom prst="roundRect">
            <a:avLst/>
          </a:prstGeom>
          <a:solidFill>
            <a:srgbClr val="E1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3840480"/>
            <a:ext cx="98755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SC"/>
              </a:rPr>
              <a:t>地理曲线</a:t>
            </a:r>
          </a:p>
        </p:txBody>
      </p:sp>
      <p:pic>
        <p:nvPicPr>
          <p:cNvPr id="24" name="Picture 23" descr="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4315968"/>
            <a:ext cx="2148840" cy="1325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18688" y="4352544"/>
            <a:ext cx="2606040" cy="13350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公开海岸线矢量数据，局部投影为平面曲线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覆盖平滑弧段与多尺度海岸细节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用于快速可视化和地理域泛化测试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192" y="3657600"/>
            <a:ext cx="553212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08192" y="3657600"/>
            <a:ext cx="100584" cy="2304288"/>
          </a:xfrm>
          <a:prstGeom prst="roundRect">
            <a:avLst/>
          </a:prstGeom>
          <a:solidFill>
            <a:srgbClr val="7C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822191"/>
            <a:ext cx="29718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01E36"/>
                </a:solidFill>
                <a:latin typeface="Noto Sans CJK SC"/>
              </a:rPr>
              <a:t>USGS 1:24,000 Contours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3840480"/>
            <a:ext cx="987552" cy="292608"/>
          </a:xfrm>
          <a:prstGeom prst="roundRect">
            <a:avLst/>
          </a:prstGeom>
          <a:solidFill>
            <a:srgbClr val="7C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3840480"/>
            <a:ext cx="98755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SC"/>
              </a:rPr>
              <a:t>地形曲线</a:t>
            </a:r>
          </a:p>
        </p:txBody>
      </p:sp>
      <p:pic>
        <p:nvPicPr>
          <p:cNvPr id="31" name="Picture 30" descr="us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315968"/>
            <a:ext cx="2148840" cy="1325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759952" y="4352544"/>
            <a:ext cx="2606040" cy="13350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The National Map 真实地形等高线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局部高曲率、长曲线与区域分布变化</a:t>
            </a:r>
          </a:p>
          <a:p>
            <a:pPr>
              <a:spcAft>
                <a:spcPts val="700"/>
              </a:spcAft>
              <a:defRPr sz="1150">
                <a:solidFill>
                  <a:srgbClr val="5B697D"/>
                </a:solidFill>
                <a:latin typeface="Noto Sans CJK SC"/>
              </a:defRPr>
            </a:pPr>
            <a:r>
              <a:t>• 用于检验复杂几何和跨区域稳健性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6108192"/>
            <a:ext cx="11073384" cy="429768"/>
          </a:xfrm>
          <a:prstGeom prst="round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6108192"/>
            <a:ext cx="10588752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CJK SC"/>
              </a:rPr>
              <a:t>实验协议  |  统一重采样为 192 点 · 真实数据无节点真值 · 共同报告 MSE / 通过率 / 节点数 K / 耗时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