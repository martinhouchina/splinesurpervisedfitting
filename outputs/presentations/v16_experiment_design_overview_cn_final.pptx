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E:/SelfSurpervisedSplineFitting/docs/training_pipeline.md</a:t>
            </a:r>
            <a:endParaRPr lang="en-US" altLang="en-US"/>
          </a:p>
          <a:p>
            <a:r>
              <a:rPr lang="en-US" altLang="en-US"/>
              <a:t>- E:/SelfSurpervisedSplineFitting/docs/published_knot_methods_reproduction.md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E:/SelfSurpervisedSplineFitting/scripts/benchmark_v15_datasets.py</a:t>
            </a:r>
            <a:endParaRPr lang="en-US" altLang="en-US"/>
          </a:p>
          <a:p>
            <a:r>
              <a:rPr lang="en-US" altLang="en-US"/>
              <a:t>- E:/SelfSurpervisedSplineFitting/src/spline_fitting/evaluation/published_baselines.py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E:/SelfSurpervisedSplineFitting/docs/published_knot_methods_reproduction.md</a:t>
            </a:r>
            <a:endParaRPr lang="en-US" altLang="en-US"/>
          </a:p>
          <a:p>
            <a:r>
              <a:rPr lang="en-US" altLang="en-US"/>
              <a:t>- E:/SelfSurpervisedSplineFitting/src/spline_fitting/evaluation/park_dominant_point.py</a:t>
            </a:r>
            <a:endParaRPr lang="en-US" altLang="en-US"/>
          </a:p>
          <a:p>
            <a:r>
              <a:rPr lang="en-US" altLang="en-US"/>
              <a:t>- E:/SelfSurpervisedSplineFitting/src/spline_fitting/evaluation/liang_feature_iki.py</a:t>
            </a:r>
            <a:endParaRPr lang="en-US" altLang="en-US"/>
          </a:p>
          <a:p>
            <a:r>
              <a:rPr lang="en-US" altLang="en-US"/>
              <a:t>- E:/SelfSurpervisedSplineFitting/src/spline_fitting/evaluation/dung_direct_knot.py</a:t>
            </a:r>
            <a:endParaRPr lang="en-US" altLang="en-US"/>
          </a:p>
          <a:p>
            <a:r>
              <a:rPr lang="en-US" altLang="en-US"/>
              <a:t>- E:/SelfSurpervisedSplineFitting/src/spline_fitting/evaluation/sparse_knot_paper.py</a:t>
            </a:r>
            <a:endParaRPr lang="en-US" altLang="en-US"/>
          </a:p>
          <a:p>
            <a:r>
              <a:rPr lang="en-US" altLang="en-US"/>
              <a:t>- E:/SelfSurpervisedSplineFitting/src/spline_fitting/evaluation/luo_linf_de.py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E:/SelfSurpervisedSplineFitting/docs/published_knot_methods_reproduction.md</a:t>
            </a:r>
            <a:endParaRPr lang="en-US" altLang="en-US"/>
          </a:p>
          <a:p>
            <a:r>
              <a:rPr lang="en-US" altLang="en-US"/>
              <a:t>- E:/SelfSurpervisedSplineFitting/src/spline_fitting/evaluation/published_baselines.py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E:/SelfSurpervisedSplineFitting/docs/training_pipeline.md</a:t>
            </a:r>
            <a:endParaRPr lang="en-US" altLang="en-US"/>
          </a:p>
          <a:p>
            <a:r>
              <a:rPr lang="en-US" altLang="en-US"/>
              <a:t>- E:/SelfSurpervisedSplineFitting/data/splits/uji_pen_v2.jsonl</a:t>
            </a:r>
            <a:endParaRPr lang="en-US" altLang="en-US"/>
          </a:p>
          <a:p>
            <a:r>
              <a:rPr lang="en-US" altLang="en-US"/>
              <a:t>- E:/SelfSurpervisedSplineFitting/data/processed/natural_earth/v5.1.2_10m_coastline/manifest.jsonl</a:t>
            </a:r>
            <a:endParaRPr lang="en-US" altLang="en-US"/>
          </a:p>
          <a:p>
            <a:r>
              <a:rPr lang="en-US" altLang="en-US"/>
              <a:t>- E:/SelfSurpervisedSplineFitting/data/processed/usgs_contours/large_scale/manifest.jsonl</a:t>
            </a: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E:/SelfSurpervisedSplineFitting/scripts/train_v16.py</a:t>
            </a:r>
            <a:endParaRPr lang="en-US" altLang="en-US"/>
          </a:p>
          <a:p>
            <a:r>
              <a:rPr lang="en-US" altLang="en-US"/>
              <a:t>- E:/SelfSurpervisedSplineFitting/src/spline_fitting/losses/v16_subset_loss.py</a:t>
            </a:r>
            <a:endParaRPr lang="en-US" altLang="en-US"/>
          </a:p>
          <a:p>
            <a:r>
              <a:rPr lang="en-US" altLang="en-US"/>
              <a:t>- E:/SelfSurpervisedSplineFitting/docs/training_pipeline.md</a:t>
            </a: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E:/SelfSurpervisedSplineFitting/scripts/benchmark_v15_datasets.py</a:t>
            </a:r>
            <a:endParaRPr lang="en-US" altLang="en-US"/>
          </a:p>
          <a:p>
            <a:r>
              <a:rPr lang="en-US" altLang="en-US"/>
              <a:t>- E:/SelfSurpervisedSplineFitting/docs/v16_verification.md</a:t>
            </a:r>
            <a:endParaRPr lang="en-US" altLang="en-US"/>
          </a:p>
          <a:p>
            <a:r>
              <a:rPr lang="en-US" altLang="en-US"/>
              <a:t>- E:/SelfSurpervisedSplineFitting/docs/synthetic_data_minimality_report.md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连接符 1"/>
          <p:cNvCxnSpPr/>
          <p:nvPr/>
        </p:nvCxnSpPr>
        <p:spPr>
          <a:xfrm flipV="1">
            <a:off x="7175500" y="3530600"/>
            <a:ext cx="635000" cy="4699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810500" y="3530600"/>
            <a:ext cx="711200" cy="2794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8521700" y="2946400"/>
            <a:ext cx="723900" cy="8636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9245600" y="2946400"/>
            <a:ext cx="762000" cy="2921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10007600" y="2565400"/>
            <a:ext cx="711200" cy="6731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0718800" y="2565400"/>
            <a:ext cx="762000" cy="2794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7105650" y="39306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740650" y="34607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8451850" y="37401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9175750" y="28765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937750" y="31686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0648950" y="24955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1410950" y="27749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702550" y="3422650"/>
            <a:ext cx="215900" cy="215900"/>
          </a:xfrm>
          <a:prstGeom prst="ellipse">
            <a:avLst/>
          </a:prstGeom>
          <a:solidFill>
            <a:srgbClr val="0C8F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9137650" y="2838450"/>
            <a:ext cx="215900" cy="215900"/>
          </a:xfrm>
          <a:prstGeom prst="ellipse">
            <a:avLst/>
          </a:prstGeom>
          <a:solidFill>
            <a:srgbClr val="0C8F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0610850" y="2457450"/>
            <a:ext cx="215900" cy="215900"/>
          </a:xfrm>
          <a:prstGeom prst="ellipse">
            <a:avLst/>
          </a:prstGeom>
          <a:solidFill>
            <a:srgbClr val="0C8F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8800" y="546100"/>
            <a:ext cx="635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CAD · B </a:t>
            </a:r>
            <a:r>
              <a:rPr lang="zh-CN" altLang="en-US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样条曲线简化</a:t>
            </a:r>
            <a:endParaRPr lang="zh-CN" altLang="en-US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58800" y="1905000"/>
            <a:ext cx="6477000" cy="1600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52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阈值约束下的</a:t>
            </a:r>
            <a:r>
              <a:rPr lang="en-US" altLang="zh-CN" sz="52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52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节点选择实验设计</a:t>
            </a:r>
            <a:endParaRPr lang="zh-CN" altLang="en-US" sz="52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4200" y="4279900"/>
            <a:ext cx="5969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对照方法</a:t>
            </a:r>
            <a:r>
              <a:rPr lang="en-US" altLang="zh-CN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· </a:t>
            </a:r>
            <a:r>
              <a:rPr lang="zh-CN" altLang="en-US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数据集</a:t>
            </a:r>
            <a:r>
              <a:rPr lang="en-US" altLang="zh-CN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· </a:t>
            </a:r>
            <a:r>
              <a:rPr lang="zh-CN" altLang="en-US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统一评价协议</a:t>
            </a:r>
            <a:endParaRPr lang="zh-CN" altLang="en-US" sz="22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4200" y="5778500"/>
            <a:ext cx="4572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v16 supervised pipeline</a:t>
            </a:r>
            <a:endParaRPr lang="en-US" altLang="en-US" sz="16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112000" y="4508500"/>
            <a:ext cx="44450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目标：在</a:t>
            </a:r>
            <a:r>
              <a:rPr lang="en-US" altLang="zh-CN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≤ 10⁻⁴ </a:t>
            </a:r>
            <a:r>
              <a:rPr lang="zh-CN" altLang="en-US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时尽量减少内部节点</a:t>
            </a:r>
            <a:endParaRPr lang="zh-CN" altLang="en-US" sz="20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比较的核心不是误差最小，而是阈值内节点最少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7200" y="1536700"/>
            <a:ext cx="4978400" cy="3454400"/>
          </a:xfrm>
          <a:prstGeom prst="rect">
            <a:avLst/>
          </a:prstGeom>
          <a:solidFill>
            <a:srgbClr val="EAF2FF"/>
          </a:solidFill>
          <a:ln w="15240">
            <a:solidFill>
              <a:srgbClr val="2367D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0" y="1879600"/>
            <a:ext cx="4064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</a:rPr>
              <a:t>统一优化目标</a:t>
            </a:r>
            <a:endParaRPr lang="zh-CN" altLang="en-US" sz="20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800" y="2489200"/>
            <a:ext cx="40640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min  |U|</a:t>
            </a:r>
            <a:endParaRPr lang="en-US" altLang="en-US" sz="34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2800" y="3238500"/>
            <a:ext cx="41910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s.t.   MSE(C(U, P), Q) ≤ ε</a:t>
            </a:r>
            <a:endParaRPr lang="en-US" altLang="en-US" sz="2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2800" y="4038600"/>
            <a:ext cx="4064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ε = 1 </a:t>
            </a:r>
            <a:r>
              <a:rPr lang="zh-CN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×</a:t>
            </a:r>
            <a:r>
              <a:rPr lang="en-US" altLang="zh-CN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10⁻⁴
MSE = mean</a:t>
            </a:r>
            <a:r>
              <a:rPr lang="zh-CN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‖C(t</a:t>
            </a:r>
            <a:r>
              <a:rPr lang="zh-CN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) − Q</a:t>
            </a:r>
            <a:r>
              <a:rPr lang="zh-CN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‖²</a:t>
            </a:r>
            <a:endParaRPr lang="en-US" altLang="zh-CN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175500" y="2171700"/>
            <a:ext cx="635" cy="381000"/>
          </a:xfrm>
          <a:prstGeom prst="line">
            <a:avLst/>
          </a:prstGeom>
          <a:ln w="2286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175500" y="3263900"/>
            <a:ext cx="635" cy="381000"/>
          </a:xfrm>
          <a:prstGeom prst="line">
            <a:avLst/>
          </a:prstGeom>
          <a:ln w="2286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175500" y="4356100"/>
            <a:ext cx="635" cy="381000"/>
          </a:xfrm>
          <a:prstGeom prst="line">
            <a:avLst/>
          </a:prstGeom>
          <a:ln w="2286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5994400" y="1460500"/>
            <a:ext cx="4318000" cy="71120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248400" y="15621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①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有序点云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Q</a:t>
            </a:r>
            <a:endParaRPr lang="en-US" altLang="zh-CN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994400" y="2552700"/>
            <a:ext cx="4318000" cy="711200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48400" y="26543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②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方法产生内部节点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U</a:t>
            </a:r>
            <a:endParaRPr lang="en-US" altLang="zh-CN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994400" y="3644900"/>
            <a:ext cx="4318000" cy="711200"/>
          </a:xfrm>
          <a:prstGeom prst="roundRect">
            <a:avLst/>
          </a:prstGeom>
          <a:solidFill>
            <a:srgbClr val="E7F6F2"/>
          </a:solidFill>
          <a:ln w="889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248400" y="37465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③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标准三次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B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样条重拟合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994400" y="4737100"/>
            <a:ext cx="4318000" cy="711200"/>
          </a:xfrm>
          <a:prstGeom prst="roundRect">
            <a:avLst/>
          </a:prstGeom>
          <a:solidFill>
            <a:srgbClr val="FFF0E5"/>
          </a:solidFill>
          <a:ln w="889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248400" y="48387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④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计算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并判断通过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7200" y="5664200"/>
            <a:ext cx="11277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公平口径：同一输入、同一最大容量、同一端点约束、同一最终</a:t>
            </a:r>
            <a:r>
              <a:rPr lang="en-US" altLang="zh-CN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least-squares refit</a:t>
            </a:r>
            <a:r>
              <a:rPr lang="zh-CN" altLang="en-US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六个对照组采用四类节点简化机制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所有方法最多使用</a:t>
            </a:r>
            <a:r>
              <a:rPr lang="en-US" altLang="zh-CN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56 </a:t>
            </a:r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个内部节点，并在相同标准</a:t>
            </a:r>
            <a:r>
              <a:rPr lang="en-US" altLang="zh-CN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B </a:t>
            </a:r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样条</a:t>
            </a:r>
            <a:r>
              <a:rPr lang="en-US" altLang="zh-CN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 </a:t>
            </a:r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后统一评价。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200" y="1625600"/>
            <a:ext cx="1409700" cy="4445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3400" y="16995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方法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66900" y="1625600"/>
            <a:ext cx="1955800" cy="4445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943100" y="16995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类别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22700" y="1625600"/>
            <a:ext cx="3949700" cy="4445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898900" y="16995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节点生成</a:t>
            </a:r>
            <a:r>
              <a:rPr lang="en-US" altLang="zh-CN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简化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72400" y="1625600"/>
            <a:ext cx="3962400" cy="4445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848600" y="16995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阈值如何参与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57200" y="2070100"/>
            <a:ext cx="1409700" cy="647700"/>
          </a:xfrm>
          <a:prstGeom prst="rect">
            <a:avLst/>
          </a:prstGeom>
          <a:solidFill>
            <a:srgbClr val="EAF2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33400" y="21440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</a:rPr>
              <a:t>Ours v16</a:t>
            </a:r>
            <a:endParaRPr lang="en-US" altLang="en-US" sz="15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66900" y="2070100"/>
            <a:ext cx="1955800" cy="647700"/>
          </a:xfrm>
          <a:prstGeom prst="rect">
            <a:avLst/>
          </a:prstGeom>
          <a:solidFill>
            <a:srgbClr val="EAF2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943100" y="21440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学习式一次性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22700" y="2070100"/>
            <a:ext cx="3949700" cy="647700"/>
          </a:xfrm>
          <a:prstGeom prst="rect">
            <a:avLst/>
          </a:prstGeom>
          <a:solidFill>
            <a:srgbClr val="EAF2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898900" y="21440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56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个有序候选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→ Top-K →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存活节点重定位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72400" y="2070100"/>
            <a:ext cx="3962400" cy="647700"/>
          </a:xfrm>
          <a:prstGeom prst="rect">
            <a:avLst/>
          </a:prstGeom>
          <a:solidFill>
            <a:srgbClr val="EAF2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848600" y="2028508"/>
            <a:ext cx="3810000" cy="46164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阈值条件化训练；部署一次预测，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refit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后报告是否通过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57200" y="2717800"/>
            <a:ext cx="140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33400" y="27917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Park &amp; Lee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66900" y="2717800"/>
            <a:ext cx="19558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943100" y="27917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逐步增加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822700" y="2717800"/>
            <a:ext cx="394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3898900" y="27917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曲率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dominant points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；残差段继续加节点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772400" y="2717800"/>
            <a:ext cx="39624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7848600" y="27917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每次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；返回首个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≤ ε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的结果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57200" y="3365500"/>
            <a:ext cx="14097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533400" y="34394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Liang et al.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866900" y="3365500"/>
            <a:ext cx="19558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943100" y="34394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逐步增加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822700" y="3365500"/>
            <a:ext cx="39497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898900" y="34394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特征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CDF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初始化；最大残差区间插点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772400" y="3365500"/>
            <a:ext cx="39624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848600" y="34394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每次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；首次满足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阈值即停止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57200" y="4013200"/>
            <a:ext cx="140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533400" y="40871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Dung et al.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866900" y="4013200"/>
            <a:ext cx="19558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1943100" y="40871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分段构造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822700" y="4013200"/>
            <a:ext cx="394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3898900" y="40871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最长可拟合片段；局部移动分段边界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772400" y="4013200"/>
            <a:ext cx="39624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848600" y="40871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内部用最大点误差；最终再按公共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检查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7200" y="4660900"/>
            <a:ext cx="14097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533400" y="47348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Kang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866900" y="4660900"/>
            <a:ext cx="19558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1943100" y="47348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稀疏优化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822700" y="4660900"/>
            <a:ext cx="39497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3898900" y="47348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group-L₁ / ADMM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激活、聚类并移动节点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772400" y="4660900"/>
            <a:ext cx="39624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7848600" y="47348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二分正则满足稀疏阶段预算；最终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复核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57200" y="5308600"/>
            <a:ext cx="140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33400" y="53825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Luo et al.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866900" y="5308600"/>
            <a:ext cx="19558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1943100" y="53825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稀疏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+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全局移动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822700" y="5308600"/>
            <a:ext cx="394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3898900" y="53825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l∞,₁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跳跃稀疏；差分进化调整节点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772400" y="5308600"/>
            <a:ext cx="39624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7848600" y="53825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稀疏阶段控制预算；移动后以公共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复核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57200" y="6083300"/>
            <a:ext cx="112776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说明：五个论文基线均为仓库中的方法适配复现，不等同于作者原始代码的逐字节复现。</a:t>
            </a:r>
            <a:endParaRPr lang="zh-CN" altLang="en-US" sz="14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同一阈值，在四类方法中承担不同角色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这一区别决定了速度、可行性与节点数之间的权衡。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200" y="1625600"/>
            <a:ext cx="11277600" cy="927100"/>
          </a:xfrm>
          <a:prstGeom prst="rect">
            <a:avLst/>
          </a:prstGeom>
          <a:solidFill>
            <a:srgbClr val="EAF2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625600"/>
            <a:ext cx="101600" cy="927100"/>
          </a:xfrm>
          <a:prstGeom prst="rect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4700" y="1765300"/>
            <a:ext cx="2413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一次性条件预测</a:t>
            </a:r>
            <a:endParaRPr lang="zh-CN" altLang="en-US" sz="19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4700" y="2108200"/>
            <a:ext cx="2413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Ours v16</a:t>
            </a:r>
            <a:endParaRPr lang="en-US" altLang="en-US" sz="15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90900" y="1644968"/>
            <a:ext cx="8001000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网络直接估计节点数量、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KeepMask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与位置；不逐样本扫描阈值。优势是一次前向，代价是阈值不是在线硬保证。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7200" y="2730500"/>
            <a:ext cx="11277600" cy="927100"/>
          </a:xfrm>
          <a:prstGeom prst="rect">
            <a:avLst/>
          </a:prstGeom>
          <a:solidFill>
            <a:srgbClr val="E7F6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57200" y="2730500"/>
            <a:ext cx="101600" cy="927100"/>
          </a:xfrm>
          <a:prstGeom prst="rect">
            <a:avLst/>
          </a:prstGeom>
          <a:solidFill>
            <a:srgbClr val="0C8F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74700" y="2870200"/>
            <a:ext cx="2413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逐步增加节点</a:t>
            </a:r>
            <a:endParaRPr lang="zh-CN" altLang="en-US" sz="19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4700" y="3213100"/>
            <a:ext cx="2413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Park · Liang</a:t>
            </a:r>
            <a:endParaRPr lang="en-US" altLang="en-US" sz="15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90900" y="2749868"/>
            <a:ext cx="8001000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从少节点开始，每增加一个节点就重拟合；第一个满足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≤ ε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的结构即为输出。可解释，但要多次求解。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7200" y="3835400"/>
            <a:ext cx="11277600" cy="927100"/>
          </a:xfrm>
          <a:prstGeom prst="rect">
            <a:avLst/>
          </a:prstGeom>
          <a:solidFill>
            <a:srgbClr val="FFF0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57200" y="3835400"/>
            <a:ext cx="101600" cy="927100"/>
          </a:xfrm>
          <a:prstGeom prst="rect">
            <a:avLst/>
          </a:prstGeom>
          <a:solidFill>
            <a:srgbClr val="E878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74700" y="3975100"/>
            <a:ext cx="2413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E8782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分段误差控制</a:t>
            </a:r>
            <a:endParaRPr lang="zh-CN" altLang="en-US" sz="1900" b="1">
              <a:solidFill>
                <a:srgbClr val="E8782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74700" y="4318000"/>
            <a:ext cx="2413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Dung</a:t>
            </a:r>
            <a:endParaRPr lang="en-US" altLang="en-US" sz="15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390900" y="3854768"/>
            <a:ext cx="8001000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按最大点误差构造最长片段，再移动边界。其内部约束与平均平方误差并不等价，最终仍需公共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复核。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57200" y="4940300"/>
            <a:ext cx="11277600" cy="927100"/>
          </a:xfrm>
          <a:prstGeom prst="rect">
            <a:avLst/>
          </a:prstGeom>
          <a:solidFill>
            <a:srgbClr val="F3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57200" y="4940300"/>
            <a:ext cx="101600" cy="927100"/>
          </a:xfrm>
          <a:prstGeom prst="rect">
            <a:avLst/>
          </a:prstGeom>
          <a:solidFill>
            <a:srgbClr val="53647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74700" y="5080000"/>
            <a:ext cx="2413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稀疏结构优化</a:t>
            </a:r>
            <a:endParaRPr lang="zh-CN" altLang="en-US" sz="1900" b="1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74700" y="5422900"/>
            <a:ext cx="2413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Kang · Luo</a:t>
            </a:r>
            <a:endParaRPr lang="en-US" altLang="en-US" sz="15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90900" y="4959668"/>
            <a:ext cx="8001000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先在稠密节点上压缩导数跳跃，再聚类或移动节点；稀疏阶段可行不代表最终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必然可行。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四类数据：有标签合成训练</a:t>
            </a:r>
            <a:r>
              <a:rPr lang="en-US" altLang="zh-CN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+ </a:t>
            </a:r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无标签真实外部验证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05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真实数据从不参与梯度更新，也不生成伪节点标签。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200400" y="1714500"/>
            <a:ext cx="635" cy="40640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045200" y="1714500"/>
            <a:ext cx="635" cy="40640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90000" y="1714500"/>
            <a:ext cx="635" cy="40640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7200" y="1790700"/>
            <a:ext cx="24765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EAF2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SYN</a:t>
            </a:r>
            <a:endParaRPr lang="en-US" altLang="en-US" sz="3400" b="1">
              <a:solidFill>
                <a:srgbClr val="EAF2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200" y="25908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Synthetic</a:t>
            </a:r>
            <a:endParaRPr lang="en-US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7200" y="3111500"/>
            <a:ext cx="1549400" cy="3683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7200" y="3142298"/>
            <a:ext cx="1549400" cy="316865"/>
          </a:xfrm>
          <a:prstGeom prst="rect">
            <a:avLst/>
          </a:prstGeom>
          <a:noFill/>
        </p:spPr>
        <p:txBody>
          <a:bodyPr wrap="square" lIns="50800" tIns="50800" rIns="50800" bIns="50800" rtlCol="0" anchor="ctr">
            <a:spAutoFit/>
          </a:bodyPr>
          <a:p>
            <a:pPr algn="ctr"/>
            <a:r>
              <a:rPr lang="en-US" altLang="en-US" sz="1400" b="1">
                <a:solidFill>
                  <a:srgbClr val="EAF2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TRAIN ONLY</a:t>
            </a:r>
            <a:endParaRPr lang="en-US" altLang="en-US" sz="1400" b="1">
              <a:solidFill>
                <a:srgbClr val="EAF2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7200" y="3708400"/>
            <a:ext cx="24638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三次开放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B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样条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K = 4–56
192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个有序点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有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t* / U* / K*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标签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噪声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σ = 0.001</a:t>
            </a:r>
            <a:endParaRPr lang="en-US" altLang="zh-CN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02000" y="1790700"/>
            <a:ext cx="24765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FFF0E5"/>
                </a:solidFill>
                <a:latin typeface="Microsoft YaHei UI" panose="020B0503020204020204" charset="-122"/>
                <a:ea typeface="Microsoft YaHei UI" panose="020B0503020204020204" charset="-122"/>
              </a:rPr>
              <a:t>UJI</a:t>
            </a:r>
            <a:endParaRPr lang="en-US" altLang="en-US" sz="3400" b="1">
              <a:solidFill>
                <a:srgbClr val="FFF0E5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02000" y="25908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Pen Characters v2</a:t>
            </a:r>
            <a:endParaRPr lang="en-US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302000" y="3111500"/>
            <a:ext cx="1549400" cy="3683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302000" y="3142298"/>
            <a:ext cx="1549400" cy="316865"/>
          </a:xfrm>
          <a:prstGeom prst="rect">
            <a:avLst/>
          </a:prstGeom>
          <a:noFill/>
        </p:spPr>
        <p:txBody>
          <a:bodyPr wrap="square" lIns="50800" tIns="50800" rIns="50800" bIns="50800" rtlCol="0" anchor="ctr">
            <a:spAutoFit/>
          </a:bodyPr>
          <a:p>
            <a:pPr algn="ctr"/>
            <a:r>
              <a:rPr lang="en-US" altLang="en-US" sz="1400" b="1">
                <a:solidFill>
                  <a:srgbClr val="FFF0E5"/>
                </a:solidFill>
                <a:latin typeface="Microsoft YaHei UI" panose="020B0503020204020204" charset="-122"/>
                <a:ea typeface="Microsoft YaHei UI" panose="020B0503020204020204" charset="-122"/>
              </a:rPr>
              <a:t>VAL / TEST</a:t>
            </a:r>
            <a:endParaRPr lang="en-US" altLang="en-US" sz="1400" b="1">
              <a:solidFill>
                <a:srgbClr val="FFF0E5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02000" y="3708400"/>
            <a:ext cx="24638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18,219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条笔画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97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类字符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writer-disjoint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拆分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真实书写噪声与尖转向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spline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节点标签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46800" y="1790700"/>
            <a:ext cx="24765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E7F6F2"/>
                </a:solidFill>
                <a:latin typeface="Microsoft YaHei UI" panose="020B0503020204020204" charset="-122"/>
                <a:ea typeface="Microsoft YaHei UI" panose="020B0503020204020204" charset="-122"/>
              </a:rPr>
              <a:t>NE</a:t>
            </a:r>
            <a:endParaRPr lang="en-US" altLang="en-US" sz="3400" b="1">
              <a:solidFill>
                <a:srgbClr val="E7F6F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46800" y="25908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Natural Earth</a:t>
            </a:r>
            <a:endParaRPr lang="en-US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146800" y="3111500"/>
            <a:ext cx="1549400" cy="3683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146800" y="3142298"/>
            <a:ext cx="1549400" cy="316865"/>
          </a:xfrm>
          <a:prstGeom prst="rect">
            <a:avLst/>
          </a:prstGeom>
          <a:noFill/>
        </p:spPr>
        <p:txBody>
          <a:bodyPr wrap="square" lIns="50800" tIns="50800" rIns="50800" bIns="50800" rtlCol="0" anchor="ctr">
            <a:spAutoFit/>
          </a:bodyPr>
          <a:p>
            <a:pPr algn="ctr"/>
            <a:r>
              <a:rPr lang="en-US" altLang="en-US" sz="1400" b="1">
                <a:solidFill>
                  <a:srgbClr val="E7F6F2"/>
                </a:solidFill>
                <a:latin typeface="Microsoft YaHei UI" panose="020B0503020204020204" charset="-122"/>
                <a:ea typeface="Microsoft YaHei UI" panose="020B0503020204020204" charset="-122"/>
              </a:rPr>
              <a:t>VAL / TEST</a:t>
            </a:r>
            <a:endParaRPr lang="en-US" altLang="en-US" sz="1400" b="1">
              <a:solidFill>
                <a:srgbClr val="E7F6F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146800" y="3708400"/>
            <a:ext cx="24638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3,908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条海岸线窗口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10m coastline v5.1.2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局部米制投影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按空间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tile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防泄漏拆分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spline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节点标签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91600" y="1790700"/>
            <a:ext cx="24765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F3F6FA"/>
                </a:solidFill>
                <a:latin typeface="Microsoft YaHei UI" panose="020B0503020204020204" charset="-122"/>
                <a:ea typeface="Microsoft YaHei UI" panose="020B0503020204020204" charset="-122"/>
              </a:rPr>
              <a:t>USGS</a:t>
            </a:r>
            <a:endParaRPr lang="en-US" altLang="en-US" sz="3400" b="1">
              <a:solidFill>
                <a:srgbClr val="F3F6F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91600" y="25908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TNM Contours</a:t>
            </a:r>
            <a:endParaRPr lang="en-US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991600" y="3111500"/>
            <a:ext cx="1549400" cy="3683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991600" y="3142298"/>
            <a:ext cx="1549400" cy="316865"/>
          </a:xfrm>
          <a:prstGeom prst="rect">
            <a:avLst/>
          </a:prstGeom>
          <a:noFill/>
        </p:spPr>
        <p:txBody>
          <a:bodyPr wrap="square" lIns="50800" tIns="50800" rIns="50800" bIns="50800" rtlCol="0" anchor="ctr">
            <a:spAutoFit/>
          </a:bodyPr>
          <a:p>
            <a:pPr algn="ctr"/>
            <a:r>
              <a:rPr lang="en-US" altLang="en-US" sz="1400" b="1">
                <a:solidFill>
                  <a:srgbClr val="F3F6FA"/>
                </a:solidFill>
                <a:latin typeface="Microsoft YaHei UI" panose="020B0503020204020204" charset="-122"/>
                <a:ea typeface="Microsoft YaHei UI" panose="020B0503020204020204" charset="-122"/>
              </a:rPr>
              <a:t>VAL / TEST</a:t>
            </a:r>
            <a:endParaRPr lang="en-US" altLang="en-US" sz="1400" b="1">
              <a:solidFill>
                <a:srgbClr val="F3F6F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991600" y="3708400"/>
            <a:ext cx="24638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820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条等高线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12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个空间组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局部米制投影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地形与区域分布泛化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spline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节点标签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57200" y="5956300"/>
            <a:ext cx="11277600" cy="393700"/>
          </a:xfrm>
          <a:prstGeom prst="rect">
            <a:avLst/>
          </a:prstGeom>
          <a:solidFill>
            <a:srgbClr val="F3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09600" y="6035358"/>
            <a:ext cx="10972800" cy="24574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统一预处理：弦长重采样</a:t>
            </a:r>
            <a:r>
              <a:rPr lang="en-US" altLang="zh-CN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→ 192 </a:t>
            </a:r>
            <a:r>
              <a:rPr lang="zh-CN" altLang="en-US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点</a:t>
            </a:r>
            <a:r>
              <a:rPr lang="en-US" altLang="zh-CN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→ </a:t>
            </a:r>
            <a:r>
              <a:rPr lang="zh-CN" altLang="en-US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去中心</a:t>
            </a:r>
            <a:r>
              <a:rPr lang="en-US" altLang="zh-CN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→ </a:t>
            </a:r>
            <a:r>
              <a:rPr lang="zh-CN" altLang="en-US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最大径向尺度归一化</a:t>
            </a:r>
            <a:endParaRPr lang="zh-CN" altLang="en-US" sz="16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训练与真实评测严格分流，避免无标签数据污染监督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06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两条数据流经过相同预处理，但只有合成数据产生梯度。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505200" y="2552700"/>
            <a:ext cx="965200" cy="635"/>
          </a:xfrm>
          <a:prstGeom prst="line">
            <a:avLst/>
          </a:prstGeom>
          <a:ln w="2540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39000" y="2552700"/>
            <a:ext cx="1270000" cy="635"/>
          </a:xfrm>
          <a:prstGeom prst="line">
            <a:avLst/>
          </a:prstGeom>
          <a:ln w="2540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505200" y="4851400"/>
            <a:ext cx="965200" cy="635"/>
          </a:xfrm>
          <a:prstGeom prst="line">
            <a:avLst/>
          </a:prstGeom>
          <a:ln w="25400">
            <a:solidFill>
              <a:srgbClr val="E8782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239000" y="4851400"/>
            <a:ext cx="1270000" cy="635"/>
          </a:xfrm>
          <a:prstGeom prst="line">
            <a:avLst/>
          </a:prstGeom>
          <a:ln w="25400">
            <a:solidFill>
              <a:srgbClr val="E8782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9855200" y="3175000"/>
            <a:ext cx="635" cy="901700"/>
          </a:xfrm>
          <a:prstGeom prst="line">
            <a:avLst/>
          </a:prstGeom>
          <a:ln w="19050">
            <a:solidFill>
              <a:srgbClr val="C9D2D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508000" y="1917700"/>
            <a:ext cx="2997200" cy="1270000"/>
          </a:xfrm>
          <a:prstGeom prst="roundRect">
            <a:avLst/>
          </a:prstGeom>
          <a:solidFill>
            <a:srgbClr val="EAF2FF"/>
          </a:solidFill>
          <a:ln w="13970">
            <a:solidFill>
              <a:srgbClr val="2367D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2000" y="2146300"/>
            <a:ext cx="24892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有标签</a:t>
            </a:r>
            <a:r>
              <a:rPr lang="en-US" altLang="zh-CN" sz="19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Synthetic</a:t>
            </a:r>
            <a:endParaRPr lang="en-US" altLang="zh-CN" sz="19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" y="2590800"/>
            <a:ext cx="24892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Q, t*, U*, K*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唯一训练数据源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470400" y="1917700"/>
            <a:ext cx="2768600" cy="12700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724400" y="2146300"/>
            <a:ext cx="2260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Proposal + Joint</a:t>
            </a:r>
            <a:endParaRPr lang="en-US" altLang="en-US" sz="20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24400" y="2590800"/>
            <a:ext cx="226060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参数、候选、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Keep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、重定位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监督反向传播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509000" y="1917700"/>
            <a:ext cx="2692400" cy="1270000"/>
          </a:xfrm>
          <a:prstGeom prst="roundRect">
            <a:avLst/>
          </a:prstGeom>
          <a:solidFill>
            <a:srgbClr val="E7F6F2"/>
          </a:solidFill>
          <a:ln w="13970">
            <a:solidFill>
              <a:srgbClr val="0C8F7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763000" y="2146300"/>
            <a:ext cx="21844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监督检查点</a:t>
            </a:r>
            <a:endParaRPr lang="zh-CN" altLang="en-US" sz="20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763000" y="2590800"/>
            <a:ext cx="21844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不含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Teacher cache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不含真实数据梯度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08000" y="4076700"/>
            <a:ext cx="2997200" cy="1549400"/>
          </a:xfrm>
          <a:prstGeom prst="roundRect">
            <a:avLst/>
          </a:prstGeom>
          <a:solidFill>
            <a:srgbClr val="FFF0E5"/>
          </a:solidFill>
          <a:ln w="13970">
            <a:solidFill>
              <a:srgbClr val="E8782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62000" y="4318000"/>
            <a:ext cx="24892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E8782F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三类真实曲线</a:t>
            </a:r>
            <a:endParaRPr lang="zh-CN" altLang="en-US" sz="1900" b="1">
              <a:solidFill>
                <a:srgbClr val="E8782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2000" y="4787900"/>
            <a:ext cx="248920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UJI · Coastline · USGS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t* / U* / K*
held-out validation / test</a:t>
            </a:r>
            <a:endParaRPr lang="en-US" altLang="zh-CN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470400" y="4076700"/>
            <a:ext cx="2768600" cy="15494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4724400" y="4318000"/>
            <a:ext cx="2260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冻结后的模型</a:t>
            </a:r>
            <a:endParaRPr lang="zh-CN" altLang="en-US" sz="20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724400" y="4787900"/>
            <a:ext cx="22606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只做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forward + refit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不更新任何参数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509000" y="4076700"/>
            <a:ext cx="2692400" cy="1549400"/>
          </a:xfrm>
          <a:prstGeom prst="roundRect">
            <a:avLst/>
          </a:prstGeom>
          <a:solidFill>
            <a:srgbClr val="E7F6F2"/>
          </a:solidFill>
          <a:ln w="13970">
            <a:solidFill>
              <a:srgbClr val="0C8F7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763000" y="4318000"/>
            <a:ext cx="21844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外部泛化评价</a:t>
            </a:r>
            <a:endParaRPr lang="zh-CN" altLang="en-US" sz="20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63000" y="4787900"/>
            <a:ext cx="21844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MSE ·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通过率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· K ·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时间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原始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高密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reference</a:t>
            </a:r>
            <a:endParaRPr lang="en-US" altLang="zh-CN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57200" y="5951538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7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合成节点真值用于训练；真实数据只回答能否泛化，不回答节点</a:t>
            </a:r>
            <a:r>
              <a:rPr lang="en-US" altLang="zh-CN" sz="17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precision / recall</a:t>
            </a:r>
            <a:r>
              <a:rPr lang="zh-CN" altLang="en-US" sz="17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sz="17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评价结果只看四项：先满足阈值，再比较复杂度与时间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07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统一主表同时呈现精度、可行性、简化程度和计算代价。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200400" y="1816100"/>
            <a:ext cx="635" cy="22352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045200" y="1816100"/>
            <a:ext cx="635" cy="22352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90000" y="1816100"/>
            <a:ext cx="635" cy="22352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7200" y="1917700"/>
            <a:ext cx="2476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9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</a:rPr>
              <a:t>MSE</a:t>
            </a:r>
            <a:endParaRPr lang="en-US" altLang="en-US" sz="29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200" y="26797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拟合精度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7200" y="3213100"/>
            <a:ext cx="24765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mean ‖C(t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)−Q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‖²
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越低越好</a:t>
            </a:r>
            <a:endParaRPr lang="zh-CN" altLang="en-US" sz="16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02000" y="1917700"/>
            <a:ext cx="2476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9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PASS</a:t>
            </a:r>
            <a:endParaRPr lang="en-US" altLang="en-US" sz="29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02000" y="26797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阈值满足率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02000" y="3213100"/>
            <a:ext cx="24765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MSE ≤ 10⁻⁴ 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的样本比例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失败样本也计入分母</a:t>
            </a:r>
            <a:endParaRPr lang="zh-CN" altLang="en-US" sz="16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46800" y="1917700"/>
            <a:ext cx="2476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900" b="1">
                <a:solidFill>
                  <a:srgbClr val="E8782F"/>
                </a:solidFill>
                <a:latin typeface="Microsoft YaHei UI" panose="020B0503020204020204" charset="-122"/>
                <a:ea typeface="Microsoft YaHei UI" panose="020B0503020204020204" charset="-122"/>
              </a:rPr>
              <a:t>K</a:t>
            </a:r>
            <a:endParaRPr lang="en-US" altLang="en-US" sz="2900" b="1">
              <a:solidFill>
                <a:srgbClr val="E8782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46800" y="26797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最终内部节点数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46800" y="3213100"/>
            <a:ext cx="24765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在通过阈值的前提下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越少越好</a:t>
            </a:r>
            <a:endParaRPr lang="zh-CN" altLang="en-US" sz="16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91600" y="1917700"/>
            <a:ext cx="2476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900" b="1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TIME</a:t>
            </a:r>
            <a:endParaRPr lang="en-US" altLang="en-US" sz="2900" b="1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991600" y="26797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完整方法时间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91600" y="3213100"/>
            <a:ext cx="24765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生成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优化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删除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refit
Ours 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另报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network-only</a:t>
            </a:r>
            <a:endParaRPr lang="en-US" altLang="zh-CN" sz="16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57200" y="4406900"/>
            <a:ext cx="11277600" cy="1320800"/>
          </a:xfrm>
          <a:prstGeom prst="rect">
            <a:avLst/>
          </a:prstGeom>
          <a:solidFill>
            <a:srgbClr val="F3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62000" y="4686300"/>
            <a:ext cx="330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Synthetic </a:t>
            </a:r>
            <a:r>
              <a:rPr lang="zh-CN" altLang="en-US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可额外报告</a:t>
            </a:r>
            <a:endParaRPr lang="zh-CN" altLang="en-US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62000" y="5143500"/>
            <a:ext cx="4699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count MAE / bias / exact rate · knot F1@0.01 · matched MAE · parameter RMSE</a:t>
            </a:r>
            <a:endParaRPr lang="en-US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77000" y="46863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E8782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真实数据必须避免</a:t>
            </a:r>
            <a:endParaRPr lang="zh-CN" altLang="en-US" b="1">
              <a:solidFill>
                <a:srgbClr val="E8782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77000" y="5143500"/>
            <a:ext cx="4699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没有真节点标签，因此不报告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knot precision / recall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；只评价曲线重建与复杂度。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7200" y="5943600"/>
            <a:ext cx="11277600" cy="6731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09600" y="6103938"/>
            <a:ext cx="10464800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结论：统一阈值与</a:t>
            </a:r>
            <a:r>
              <a:rPr lang="en-US" altLang="zh-CN" sz="1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 </a:t>
            </a:r>
            <a:r>
              <a:rPr lang="zh-CN" altLang="en-US" sz="1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口径后，才能公平讨论节点少、误差低、速度快。</a:t>
            </a:r>
            <a:endParaRPr lang="zh-CN" altLang="en-US" sz="17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328400" y="6172200"/>
            <a:ext cx="355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07</a:t>
            </a:r>
            <a:endParaRPr lang="en-US" altLang="en-US" sz="1000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2217</Words>
  <Application>WPS 演示</Application>
  <PresentationFormat>宽屏</PresentationFormat>
  <Paragraphs>240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Microsoft YaHei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liu</dc:creator>
  <cp:lastModifiedBy>MartinHou</cp:lastModifiedBy>
  <cp:revision>157</cp:revision>
  <dcterms:created xsi:type="dcterms:W3CDTF">2019-06-19T02:08:00Z</dcterms:created>
  <dcterms:modified xsi:type="dcterms:W3CDTF">2026-09-10T15:00:19Z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9775E46FC6C3487DB74116B995FBC8C4_11</vt:lpwstr>
  </property>
</Properties>
</file>